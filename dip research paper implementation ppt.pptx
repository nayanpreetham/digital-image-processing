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0457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943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Efficient Fractional-Order PDE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Image Denoising Algorithm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8046720" cy="3657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Ultrasound Medical Image-Based Diagnostics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 ·  Journal of Computational and Applied Mathematics (2025)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39022" y="4023360"/>
            <a:ext cx="2440745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 BADITHALA NAYAN PREETHAM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YASHAS KUMAR KALYANI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NAIDU VAMSHI KRISHNA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ABHIJEET CHOWDARY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Problem?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150034"/>
            <a:ext cx="5029200" cy="35661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images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widely used to diagnose eye diseases, heart conditions and more.
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capture, ultrasound images get corrupted by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speckle noise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random grainy patterns that blur details and make diagnosis harder.
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hard to fix?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filters remove noise but also erase important edges and details.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1280160"/>
            <a:ext cx="3200400" cy="1371600"/>
          </a:xfrm>
          <a:prstGeom prst="rect">
            <a:avLst/>
          </a:prstGeom>
          <a:solidFill>
            <a:srgbClr val="DDDDDD"/>
          </a:solidFill>
          <a:ln w="19050">
            <a:solidFill>
              <a:srgbClr val="5555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2801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Noisy Ultrasound Image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(hard to read)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20840" y="2651760"/>
            <a:ext cx="0" cy="4572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 Denoising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3337560"/>
            <a:ext cx="32004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33375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Clean Image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(easy to diagnose)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Approaches &amp; Their Limitations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4320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 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(1st-order PDE)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274320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9164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Preserves edges but creates blocky 'staircase' artifacts in smooth areas.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74320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LLT 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(4th-order PDE)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645920"/>
            <a:ext cx="274320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69164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Smooth output but generates black/white speckle dots on the image.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74320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Integer-Order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645920"/>
            <a:ext cx="274320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69164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Cannot adapt to different texture regions; one-size-fits-all approach fails on complex medical images.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931920"/>
            <a:ext cx="8595360" cy="777240"/>
          </a:xfrm>
          <a:prstGeom prst="rect">
            <a:avLst/>
          </a:prstGeom>
          <a:solidFill>
            <a:srgbClr val="DDDDD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3192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 smarter approach is needed — one that can adapt to each pixel's local features.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Fractional Calculus? (Simply Put)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ordinary derivatives: 1st order, 2nd order, 3rd order 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calculus allows orders like 0.4, 0.8, 1.3 — anything in between!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77724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" y="2468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91640" y="2194560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2468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63240" y="2194560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2468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2194560"/>
            <a:ext cx="274320" cy="274320"/>
          </a:xfrm>
          <a:prstGeom prst="ellipse">
            <a:avLst/>
          </a:prstGeom>
          <a:solidFill>
            <a:srgbClr val="5555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2468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2194560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2468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35240" y="2194560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2468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27889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Integer orders only            Fractional orders (new!) 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291840"/>
            <a:ext cx="32004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29184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329184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high-frequency components (edges) while preserving low-frequency regions (smooth areas).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767328"/>
            <a:ext cx="32004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6732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376732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flexible than integer-order — can be tuned precisely for each pixel.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242816"/>
            <a:ext cx="32004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242816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4242816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handles images with complex textures and noisy boundaries.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Model —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model (FPD) combines the best of ROF + LLT using a fractional edge detector: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2743200" cy="2560320"/>
          </a:xfrm>
          <a:prstGeom prst="rect">
            <a:avLst/>
          </a:prstGeom>
          <a:solidFill>
            <a:srgbClr val="F5F5F5"/>
          </a:solidFill>
          <a:ln w="19050">
            <a:solidFill>
              <a:srgbClr val="5555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00200"/>
            <a:ext cx="27432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00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Term  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the output stays close to the original noisy image — prevents over-smoothing.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600200"/>
            <a:ext cx="2743200" cy="2560320"/>
          </a:xfrm>
          <a:prstGeom prst="rect">
            <a:avLst/>
          </a:prstGeom>
          <a:solidFill>
            <a:srgbClr val="F5F5F5"/>
          </a:solidFill>
          <a:ln w="19050">
            <a:solidFill>
              <a:srgbClr val="5555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600200"/>
            <a:ext cx="27432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600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E₁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(ROF-style)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19456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sharp edges by penalizing large gradients in the image.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600200"/>
            <a:ext cx="2743200" cy="2560320"/>
          </a:xfrm>
          <a:prstGeom prst="rect">
            <a:avLst/>
          </a:prstGeom>
          <a:solidFill>
            <a:srgbClr val="F5F5F5"/>
          </a:solidFill>
          <a:ln w="19050">
            <a:solidFill>
              <a:srgbClr val="5555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600200"/>
            <a:ext cx="27432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600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E₂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(LLT-style)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219456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second-order changes, eliminating staircase artefacts in smooth regions.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80360" y="25603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806440" y="25603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74320" y="4297680"/>
            <a:ext cx="859536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29768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E(u) = H + E₁ + E₂   →   Optimal denoised image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Fractional Edge Detection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detector g adjusts its fractional order v individually for every pixel: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1600200"/>
            <a:ext cx="45720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6002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1 / (1 + γ + k · |∇ᵛu|)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514600"/>
            <a:ext cx="859536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514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value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514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Region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2514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859536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→ small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region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 model dominates → sharp edges preserved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42900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429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→ large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429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region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5040" y="3429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LLT model dominates → no staircase effect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931920"/>
            <a:ext cx="859536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931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is adaptive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3931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35040" y="3931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optimised per-pixel by FPA algorithm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the model is smarter and it doesn't use a single fixed rule for the whole image.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 Pollination Algorithm (FPA) — Finding the Best Order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FPA is a nature-inspired optimisation algorithm that finds the best fractional order v for each pixel.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1371600" cy="13716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45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82880" y="3063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" y="342900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set fractional orders for all pixels (v ∈ [0, 2])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45920" y="2331720"/>
            <a:ext cx="347472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93392" y="1645920"/>
            <a:ext cx="1371600" cy="13716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1645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901952" y="3063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01952" y="342900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solution using PSNR + SSIM − MAE (image quality)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64992" y="2331720"/>
            <a:ext cx="347472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12464" y="1645920"/>
            <a:ext cx="1371600" cy="13716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12464" y="1645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621024" y="3063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search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21024" y="342900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Cross-pollination: jump to the best known solution (Lévy flight)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84064" y="2331720"/>
            <a:ext cx="347472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9784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31536" y="1645920"/>
            <a:ext cx="1371600" cy="13716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31536" y="1645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340096" y="3063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40096" y="342900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Self-pollination: tweak nearby solutions slightly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03136" y="2331720"/>
            <a:ext cx="347472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48856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150608" y="1645920"/>
            <a:ext cx="1371600" cy="1371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1645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059168" y="3063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59168" y="342900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improvement is &lt; 0.0001; output optimal v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480560"/>
            <a:ext cx="8595360" cy="365760"/>
          </a:xfrm>
          <a:prstGeom prst="rect">
            <a:avLst/>
          </a:prstGeom>
          <a:solidFill>
            <a:srgbClr val="DDDDD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4805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Converges in fewer than 10 iterations and it is fast and efficient!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Measure Denoising Quality?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standard metrics are used to judge how good the denoised image is: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1005840" cy="914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4592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80160" y="1504188"/>
            <a:ext cx="758952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1417320" y="1691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Signal-to-Noise Ratio  </a:t>
            </a: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Higher is better
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different the denoised image is from the original. A higher number means less noise remaining.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560320"/>
            <a:ext cx="1005840" cy="914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72491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280160" y="2560320"/>
            <a:ext cx="758952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277063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Similarity Index  </a:t>
            </a: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Closer to 1 is better
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the structure, texture, and brightness look similar to the original. 1 = perfect.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648456"/>
            <a:ext cx="1005840" cy="914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274320" y="3803904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280160" y="3648456"/>
            <a:ext cx="758952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3849624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 </a:t>
            </a: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Lower is better
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pixel-by-pixel difference from the original. Smaller means more accurate denoising.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FPA optimises v by maximising: PSNR + SSIM − MAE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Full Algorithm Works — Step by Step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57200" cy="566928"/>
          </a:xfrm>
          <a:prstGeom prst="rect">
            <a:avLst/>
          </a:prstGeom>
          <a:solidFill>
            <a:srgbClr val="5555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1143000"/>
            <a:ext cx="822960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18872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(done once):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FPA on the input image to find the best fractional order matrix v (one value per pixel).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892808"/>
            <a:ext cx="457200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9280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1892808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93852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parameters: Lagrange weight λ, contrast coefficient k, small constant γ, and time step Δt.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642616"/>
            <a:ext cx="457200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64261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7240" y="2642616"/>
            <a:ext cx="822960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688336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every pixel using the finite difference form of the PDE (equation 2.16 in the paper).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392424"/>
            <a:ext cx="457200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39242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7240" y="3392424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438144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updating until the maximum number of iterations K is reached.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142232"/>
            <a:ext cx="457200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4223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7240" y="4142232"/>
            <a:ext cx="822960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187952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image u is the denoised result.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Synthetic Images (Lena, Peppers, Baboon…)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6 standard grayscale images with Gaussian noise (σ = 10 and σ = 15):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8686800" cy="4389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544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15544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(σ=10)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47488" y="15544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(σ=10)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95160" y="15544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(σ=10)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993392"/>
            <a:ext cx="868680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9339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 [5]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0" y="199339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~28.0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47488" y="199339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95160" y="199339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~7.8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432304"/>
            <a:ext cx="8686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32304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LLT [6]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08960" y="243230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~30.5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47488" y="243230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95160" y="243230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871216"/>
            <a:ext cx="868680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87121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 [10]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08960" y="287121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~28.4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47488" y="287121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95160" y="287121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~7.7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3310128"/>
            <a:ext cx="8686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31012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[19]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108960" y="33101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~30.3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47488" y="33101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95160" y="33101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~6.2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3749040"/>
            <a:ext cx="868680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7490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[31]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108960" y="374904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~30.5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47488" y="374904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95160" y="374904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~5.9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74320" y="4187952"/>
            <a:ext cx="8686800" cy="438912"/>
          </a:xfrm>
          <a:prstGeom prst="rect">
            <a:avLst/>
          </a:prstGeom>
          <a:solidFill>
            <a:srgbClr val="1A1A1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18795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✔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108960" y="418795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~31.7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47488" y="418795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95160" y="418795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364566" y="4599432"/>
            <a:ext cx="581699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consistently achieves the highest PSNR and SSIM, and lowest MAE across all test images.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Real Ophthalmic Ultrasound Images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real eye disease images tested with increasing speckle noise (variance 0.02, 0.04, 0.06):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00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Retinal detachment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40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Choroidal detachment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971800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80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Vitreous hemorrhage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691640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600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Vitreous mechanization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331720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240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Vitreous turbidity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971800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880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Vitreous stellate deformation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657600"/>
            <a:ext cx="859536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023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Our model's PSNR stays highest even as noise increases.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251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Other models degrade quickly at high noise; ours degrades slowly.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Visually: internal eye structures better preserved, clearer edges.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371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344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0" y="1234440"/>
            <a:ext cx="722376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123444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images are degraded by speckle noise; existing PDE methods have trade-offs.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984248"/>
            <a:ext cx="1371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8424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45920" y="1984248"/>
            <a:ext cx="722376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1984248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Fractional PDE (FPD) model that adaptively combines ROF + LLT using a per-pixel fractional order.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734056"/>
            <a:ext cx="1371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734056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645920" y="2734056"/>
            <a:ext cx="722376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2734056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order v is optimised offline per pixel using the Flower Pollination Algorithm (FPA).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483864"/>
            <a:ext cx="1371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483864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645920" y="3483864"/>
            <a:ext cx="722376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83080" y="3483864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5 competing methods on both synthetic images and real eye ultrasound scans.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233672"/>
            <a:ext cx="1371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23367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645920" y="4233672"/>
            <a:ext cx="722376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83080" y="4233672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to extend to other medical imaging tasks beyond ophthalmic ultrasound.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1129</Words>
  <Application>Microsoft Office PowerPoint</Application>
  <PresentationFormat>On-screen Show (16:9)</PresentationFormat>
  <Paragraphs>181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Fractional-Order PDE Image Denoising</dc:title>
  <dc:subject>PptxGenJS Presentation</dc:subject>
  <dc:creator>PptxGenJS</dc:creator>
  <cp:lastModifiedBy>yashas kumar kalyani</cp:lastModifiedBy>
  <cp:revision>2</cp:revision>
  <dcterms:created xsi:type="dcterms:W3CDTF">2026-04-22T14:11:15Z</dcterms:created>
  <dcterms:modified xsi:type="dcterms:W3CDTF">2026-04-22T15:38:47Z</dcterms:modified>
</cp:coreProperties>
</file>